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81" r:id="rId2"/>
    <p:sldId id="261" r:id="rId3"/>
    <p:sldId id="262" r:id="rId4"/>
    <p:sldId id="263" r:id="rId5"/>
    <p:sldId id="260" r:id="rId6"/>
    <p:sldId id="285" r:id="rId7"/>
    <p:sldId id="259" r:id="rId8"/>
    <p:sldId id="264" r:id="rId9"/>
    <p:sldId id="258" r:id="rId10"/>
    <p:sldId id="266" r:id="rId11"/>
    <p:sldId id="267" r:id="rId12"/>
    <p:sldId id="272" r:id="rId13"/>
    <p:sldId id="273" r:id="rId14"/>
    <p:sldId id="274" r:id="rId15"/>
    <p:sldId id="275" r:id="rId16"/>
    <p:sldId id="276" r:id="rId17"/>
    <p:sldId id="269" r:id="rId18"/>
    <p:sldId id="278" r:id="rId19"/>
    <p:sldId id="279" r:id="rId20"/>
    <p:sldId id="270" r:id="rId21"/>
    <p:sldId id="271" r:id="rId22"/>
    <p:sldId id="280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576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4460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69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9711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5228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88247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79387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087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987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85462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54052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7F22FF-CF30-4A3B-9C3A-28559C2B0CBB}" type="datetimeFigureOut">
              <a:rPr lang="en-AE" smtClean="0"/>
              <a:t>07/10/2026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2209534-663A-4A60-A045-47C9FCECAFCF}" type="slidenum">
              <a:rPr lang="en-AE" smtClean="0"/>
              <a:t>‹#›</a:t>
            </a:fld>
            <a:endParaRPr lang="en-A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5220-964D-EE95-8B3A-EFC96CC43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1380"/>
            <a:ext cx="10058400" cy="1727200"/>
          </a:xfrm>
        </p:spPr>
        <p:txBody>
          <a:bodyPr/>
          <a:lstStyle/>
          <a:p>
            <a:r>
              <a:rPr lang="en-IN" b="1" dirty="0">
                <a:latin typeface="Berlin Sans FB Demi" panose="020E0802020502020306" pitchFamily="34" charset="0"/>
              </a:rPr>
              <a:t>DROWSINESS DETECTION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5BE87C-1788-3FF1-D2AA-82F04506E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84" y="220282"/>
            <a:ext cx="11854832" cy="595394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72E8EA-8CD3-E517-EA15-039C8CE6D537}"/>
              </a:ext>
            </a:extLst>
          </p:cNvPr>
          <p:cNvSpPr txBox="1"/>
          <p:nvPr/>
        </p:nvSpPr>
        <p:spPr>
          <a:xfrm>
            <a:off x="168585" y="683778"/>
            <a:ext cx="43386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Drowsiness Detection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6A243-C1F4-F5C2-768A-65F4357DE46F}"/>
              </a:ext>
            </a:extLst>
          </p:cNvPr>
          <p:cNvSpPr/>
          <p:nvPr/>
        </p:nvSpPr>
        <p:spPr>
          <a:xfrm>
            <a:off x="168583" y="220283"/>
            <a:ext cx="4338681" cy="595394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 Narrow" panose="020B0606020202030204" pitchFamily="34" charset="0"/>
              </a:rPr>
              <a:t>DROWSINESS DETECTION MODEL</a:t>
            </a:r>
          </a:p>
        </p:txBody>
      </p:sp>
    </p:spTree>
    <p:extLst>
      <p:ext uri="{BB962C8B-B14F-4D97-AF65-F5344CB8AC3E}">
        <p14:creationId xmlns:p14="http://schemas.microsoft.com/office/powerpoint/2010/main" val="44151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397A-8E9E-3556-2497-2563EF1A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4850F-5026-59D7-3F50-230805232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What is drowsiness?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  A state of being tired, lethargic, or lacking in alertness and awareness.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  Major issue of road accidents.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 What is Drowsiness </a:t>
            </a:r>
            <a:r>
              <a:rPr lang="en-GB"/>
              <a:t>detection model?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These models are specifically designed to identify early signs of tiredness in people,                using modern techniques like computer vision and deep learning by  monitoring the eye movements and facial expressions .</a:t>
            </a:r>
          </a:p>
          <a:p>
            <a:pPr marL="0" indent="0">
              <a:buNone/>
            </a:pP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60274-4A47-63C7-2746-BFC902DB7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716" y="4622304"/>
            <a:ext cx="4869798" cy="273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BC01-AB10-C578-A49E-0ECA30807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21EF6-9A01-92DC-C6B2-4351862AA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083" y="2170443"/>
            <a:ext cx="10561833" cy="440095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The goal of  this project is to ensure the safety system by creating a model for drowsiness detection that can quickly and precisely recognise signs of tiredness in drivers in a variety of scenarios  to prevent accidents 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These systems use modern technologies like computer vision, deep learning, and physiological sensors to improve safety by promptly alerting users or initiating actions when drowsiness is identified</a:t>
            </a:r>
          </a:p>
          <a:p>
            <a:pPr>
              <a:buFont typeface="Wingdings" panose="05000000000000000000" pitchFamily="2" charset="2"/>
              <a:buChar char="v"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0F9F1-67A1-BED5-50CD-63C3AF55F1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13" t="45992" r="12276" b="17603"/>
          <a:stretch/>
        </p:blipFill>
        <p:spPr>
          <a:xfrm>
            <a:off x="2601844" y="3928846"/>
            <a:ext cx="6988311" cy="234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35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4BF0-8E03-EDD8-BFCE-E90FCE87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F446-EE21-729D-2AFD-D8BB292B6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060" y="2188634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Nowadays there is a huge increase in transportation day by day.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Drivers can get get tired and drowsy which can lead to accidents.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In order to avoid these accidents, its important to detect the alertness of driver continuously.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When the face is detected , driver must be alerted if he is drowsy.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Through this we can avoid accidents and save lives of people.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B5F8B-9C42-FF67-0503-79C6BE7AA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678" y="5915531"/>
            <a:ext cx="4555816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5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1F39-D83E-C9F3-6884-D95A25C75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84" y="570688"/>
            <a:ext cx="10243335" cy="54372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4400" dirty="0"/>
              <a:t>ABOUT DATASET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The dataset was collected using Unity Eyes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The source from where we got data is Kaggle.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 It was labelled using an arbitrary threshold of openness=20 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 Dataset comprises a diverse collection of eye movement recordings captured under controlled driving scenarios.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The data includes sequences of eye images, meticulously labelled to indicate whether the eyes are open or closed.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Dataset size: 552 MB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91986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A67EA-BDB4-1BBB-B88C-3968F70F08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349" t="25960" r="17921" b="17604"/>
          <a:stretch/>
        </p:blipFill>
        <p:spPr>
          <a:xfrm>
            <a:off x="657093" y="729464"/>
            <a:ext cx="10719967" cy="55579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C87595-58A1-183C-4550-3FFA6AF97BDA}"/>
              </a:ext>
            </a:extLst>
          </p:cNvPr>
          <p:cNvSpPr txBox="1"/>
          <p:nvPr/>
        </p:nvSpPr>
        <p:spPr>
          <a:xfrm>
            <a:off x="2990969" y="1591501"/>
            <a:ext cx="160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Data     preparation</a:t>
            </a:r>
            <a:endParaRPr lang="en-A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3C9F2-AD47-13CF-BF15-AF00D716AB61}"/>
              </a:ext>
            </a:extLst>
          </p:cNvPr>
          <p:cNvSpPr txBox="1"/>
          <p:nvPr/>
        </p:nvSpPr>
        <p:spPr>
          <a:xfrm>
            <a:off x="5261007" y="1156272"/>
            <a:ext cx="144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splitting</a:t>
            </a:r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B9216D-AB5E-AE97-46CC-3DF0CEB4BE62}"/>
              </a:ext>
            </a:extLst>
          </p:cNvPr>
          <p:cNvSpPr txBox="1"/>
          <p:nvPr/>
        </p:nvSpPr>
        <p:spPr>
          <a:xfrm>
            <a:off x="7598265" y="1440308"/>
            <a:ext cx="1640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Loading          and transformation</a:t>
            </a:r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6F3BC-D314-DFDA-10B4-63F3491AA94B}"/>
              </a:ext>
            </a:extLst>
          </p:cNvPr>
          <p:cNvSpPr txBox="1"/>
          <p:nvPr/>
        </p:nvSpPr>
        <p:spPr>
          <a:xfrm>
            <a:off x="8720488" y="2979851"/>
            <a:ext cx="183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Model selection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13FCD9-A88F-7F06-B250-490735973AE9}"/>
              </a:ext>
            </a:extLst>
          </p:cNvPr>
          <p:cNvSpPr txBox="1"/>
          <p:nvPr/>
        </p:nvSpPr>
        <p:spPr>
          <a:xfrm>
            <a:off x="8518358" y="4136827"/>
            <a:ext cx="1501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Define optimizer and loss function</a:t>
            </a:r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977F1-A127-7CED-8D13-D2F0E37FC27B}"/>
              </a:ext>
            </a:extLst>
          </p:cNvPr>
          <p:cNvSpPr txBox="1"/>
          <p:nvPr/>
        </p:nvSpPr>
        <p:spPr>
          <a:xfrm>
            <a:off x="6535552" y="5332396"/>
            <a:ext cx="159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Training model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D0F69-DD7B-C9AF-2D43-FEF0A79A14D7}"/>
              </a:ext>
            </a:extLst>
          </p:cNvPr>
          <p:cNvSpPr txBox="1"/>
          <p:nvPr/>
        </p:nvSpPr>
        <p:spPr>
          <a:xfrm>
            <a:off x="4104762" y="5303520"/>
            <a:ext cx="159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validation</a:t>
            </a:r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E1766-8BA5-B159-CF61-FE338F11C78B}"/>
              </a:ext>
            </a:extLst>
          </p:cNvPr>
          <p:cNvSpPr txBox="1"/>
          <p:nvPr/>
        </p:nvSpPr>
        <p:spPr>
          <a:xfrm>
            <a:off x="2059805" y="4320413"/>
            <a:ext cx="17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Testing model</a:t>
            </a:r>
            <a:endParaRPr lang="en-A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5041A-900C-00E8-E9A9-2E72C1416ECD}"/>
              </a:ext>
            </a:extLst>
          </p:cNvPr>
          <p:cNvSpPr txBox="1"/>
          <p:nvPr/>
        </p:nvSpPr>
        <p:spPr>
          <a:xfrm>
            <a:off x="1633090" y="2790749"/>
            <a:ext cx="1838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Analyze</a:t>
            </a:r>
            <a:r>
              <a:rPr lang="en-GB" dirty="0"/>
              <a:t> model predictions </a:t>
            </a:r>
            <a:endParaRPr lang="en-A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2954A0-8BC9-6608-B90A-B895F91537F2}"/>
              </a:ext>
            </a:extLst>
          </p:cNvPr>
          <p:cNvSpPr txBox="1"/>
          <p:nvPr/>
        </p:nvSpPr>
        <p:spPr>
          <a:xfrm>
            <a:off x="5021826" y="3247456"/>
            <a:ext cx="231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WORKFLOW</a:t>
            </a:r>
            <a:endParaRPr lang="en-AE" sz="2800" b="1" dirty="0"/>
          </a:p>
        </p:txBody>
      </p:sp>
    </p:spTree>
    <p:extLst>
      <p:ext uri="{BB962C8B-B14F-4D97-AF65-F5344CB8AC3E}">
        <p14:creationId xmlns:p14="http://schemas.microsoft.com/office/powerpoint/2010/main" val="2492687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8607-1F8C-7D97-106B-A3DC6919C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503" y="636998"/>
            <a:ext cx="11054993" cy="5804898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3200" dirty="0"/>
              <a:t>IMAGE PROCESSING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The primary aspect of drowsiness detection is image processing, which allows for the immediate evaluation of face warning signs and fast actions.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Live images are taken using a camera and processed through many steps, such as facial landmark and face detection.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This makes it possible to precisely monitor facial expressions and eye movements, which are important signs of drowsiness.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These features are subsequently classified using deep learning techniques, enabling real-time evaluations.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At the end of the process, an alert system is activated, which then sends out immediate warnings.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173187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ECF57-FBF3-594E-045E-7B13038C9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 OF EYE DETECTION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96F6B-3FBB-422D-2F65-6E51BF51F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Step1:-  </a:t>
            </a:r>
            <a:r>
              <a:rPr lang="en-IN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nput  the image and image processing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Step2:-  Detecting the face in the image and creating a region of interest</a:t>
            </a:r>
            <a:endParaRPr lang="en-A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Step3:-  Detect the eyes and feed it</a:t>
            </a:r>
            <a:endParaRPr lang="en-A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Step4:-  Compare whether the is  eye opened or closed</a:t>
            </a:r>
            <a:endParaRPr lang="en-A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Step5:-  Calculate the score to check whether the person is drowsy</a:t>
            </a:r>
            <a:endParaRPr lang="en-A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Step6:-   If the level of fatigue is more then the alert is given.</a:t>
            </a:r>
            <a:endParaRPr lang="en-A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Step7:-   Alert is given</a:t>
            </a:r>
            <a:r>
              <a:rPr lang="en-A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until the driver wakes up</a:t>
            </a:r>
          </a:p>
        </p:txBody>
      </p:sp>
    </p:spTree>
    <p:extLst>
      <p:ext uri="{BB962C8B-B14F-4D97-AF65-F5344CB8AC3E}">
        <p14:creationId xmlns:p14="http://schemas.microsoft.com/office/powerpoint/2010/main" val="801521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1E14D-584C-7692-CA05-82370796E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306300" cy="6858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GB" sz="4900" b="0" i="0" dirty="0">
                <a:solidFill>
                  <a:schemeClr val="tx1"/>
                </a:solidFill>
                <a:effectLst/>
                <a:latin typeface="Söhne Mono"/>
              </a:rPr>
            </a:br>
            <a:r>
              <a:rPr lang="en-GB" sz="8000" b="0" i="0" dirty="0">
                <a:solidFill>
                  <a:schemeClr val="tx1"/>
                </a:solidFill>
                <a:effectLst/>
                <a:latin typeface="Söhne Mono"/>
              </a:rPr>
              <a:t> </a:t>
            </a:r>
            <a:r>
              <a:rPr lang="en-GB" sz="4400" dirty="0">
                <a:solidFill>
                  <a:schemeClr val="tx1"/>
                </a:solidFill>
                <a:latin typeface="Söhne Mono"/>
              </a:rPr>
              <a:t>FLOWCHART</a:t>
            </a:r>
            <a:r>
              <a:rPr lang="en-GB" b="0" i="0" dirty="0">
                <a:solidFill>
                  <a:srgbClr val="FFFFFF"/>
                </a:solidFill>
                <a:effectLst/>
                <a:latin typeface="Söhne Mono"/>
              </a:rPr>
              <a:t> +-----------------+ | (Computer Vision) +-----------------+ +---------------------+ | Image Capture | | | | (Camera) +--------&gt;| Face Detection | +-----------------+ | (Computer Vision) | +----------+----------+</a:t>
            </a:r>
            <a:endParaRPr lang="en-A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C041E7-347F-749B-4EF6-616587C2E3F7}"/>
              </a:ext>
            </a:extLst>
          </p:cNvPr>
          <p:cNvSpPr/>
          <p:nvPr/>
        </p:nvSpPr>
        <p:spPr>
          <a:xfrm>
            <a:off x="533400" y="1384300"/>
            <a:ext cx="2343150" cy="987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Image capture</a:t>
            </a:r>
          </a:p>
          <a:p>
            <a:pPr algn="ctr"/>
            <a:r>
              <a:rPr lang="en-GB" dirty="0"/>
              <a:t>(by camera)</a:t>
            </a:r>
            <a:endParaRPr lang="en-AE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F94816A-FBB9-D038-7039-394FE987C9DF}"/>
              </a:ext>
            </a:extLst>
          </p:cNvPr>
          <p:cNvSpPr/>
          <p:nvPr/>
        </p:nvSpPr>
        <p:spPr>
          <a:xfrm>
            <a:off x="2978150" y="1733550"/>
            <a:ext cx="1308100" cy="19050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8C2CF1-317D-5C6A-8FB4-90AD452B89E0}"/>
              </a:ext>
            </a:extLst>
          </p:cNvPr>
          <p:cNvSpPr/>
          <p:nvPr/>
        </p:nvSpPr>
        <p:spPr>
          <a:xfrm>
            <a:off x="4410075" y="1377950"/>
            <a:ext cx="2247900" cy="927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Face detection</a:t>
            </a:r>
            <a:endParaRPr lang="en-AE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DD1EA45-847D-D436-1846-522690591016}"/>
              </a:ext>
            </a:extLst>
          </p:cNvPr>
          <p:cNvSpPr/>
          <p:nvPr/>
        </p:nvSpPr>
        <p:spPr>
          <a:xfrm>
            <a:off x="6869112" y="1733550"/>
            <a:ext cx="1520825" cy="21590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279967-B07A-D148-39F1-3AA705C0F9E5}"/>
              </a:ext>
            </a:extLst>
          </p:cNvPr>
          <p:cNvSpPr/>
          <p:nvPr/>
        </p:nvSpPr>
        <p:spPr>
          <a:xfrm>
            <a:off x="8499475" y="1377950"/>
            <a:ext cx="2247900" cy="844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Facial landmark detection</a:t>
            </a:r>
            <a:endParaRPr lang="en-AE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4A1A499-3FCA-F7C0-E799-8C3EC36D3BA8}"/>
              </a:ext>
            </a:extLst>
          </p:cNvPr>
          <p:cNvSpPr/>
          <p:nvPr/>
        </p:nvSpPr>
        <p:spPr>
          <a:xfrm>
            <a:off x="9537700" y="2371725"/>
            <a:ext cx="203200" cy="796925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448273-ADE1-9CAE-E707-B0CB7B4D6D95}"/>
              </a:ext>
            </a:extLst>
          </p:cNvPr>
          <p:cNvSpPr/>
          <p:nvPr/>
        </p:nvSpPr>
        <p:spPr>
          <a:xfrm>
            <a:off x="946150" y="3168650"/>
            <a:ext cx="2425700" cy="10604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DL classification</a:t>
            </a:r>
            <a:endParaRPr lang="en-A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9C0800-F9EB-8012-953B-9B3B0A4E9644}"/>
              </a:ext>
            </a:extLst>
          </p:cNvPr>
          <p:cNvSpPr/>
          <p:nvPr/>
        </p:nvSpPr>
        <p:spPr>
          <a:xfrm>
            <a:off x="5118102" y="3168650"/>
            <a:ext cx="2247900" cy="101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Expression analysis</a:t>
            </a:r>
            <a:endParaRPr lang="en-A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0B2AA3-32ED-8C5E-CF57-45105EA95C62}"/>
              </a:ext>
            </a:extLst>
          </p:cNvPr>
          <p:cNvSpPr/>
          <p:nvPr/>
        </p:nvSpPr>
        <p:spPr>
          <a:xfrm>
            <a:off x="8585200" y="3232150"/>
            <a:ext cx="2247900" cy="9842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Eye tracking analysis</a:t>
            </a:r>
            <a:endParaRPr lang="en-AE" dirty="0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C87EC3FF-FDF9-CBB3-4220-776F857311BF}"/>
              </a:ext>
            </a:extLst>
          </p:cNvPr>
          <p:cNvSpPr/>
          <p:nvPr/>
        </p:nvSpPr>
        <p:spPr>
          <a:xfrm>
            <a:off x="7556500" y="3619500"/>
            <a:ext cx="889000" cy="215900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B6010CFC-274E-FC05-D6C6-A96E9B435E73}"/>
              </a:ext>
            </a:extLst>
          </p:cNvPr>
          <p:cNvSpPr/>
          <p:nvPr/>
        </p:nvSpPr>
        <p:spPr>
          <a:xfrm>
            <a:off x="3632200" y="3619500"/>
            <a:ext cx="1193800" cy="215900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5353ABB2-FCBC-CD77-DDC7-5CB31803736F}"/>
              </a:ext>
            </a:extLst>
          </p:cNvPr>
          <p:cNvSpPr/>
          <p:nvPr/>
        </p:nvSpPr>
        <p:spPr>
          <a:xfrm rot="5400000">
            <a:off x="1560252" y="4995105"/>
            <a:ext cx="1215190" cy="554804"/>
          </a:xfrm>
          <a:prstGeom prst="bentUpArrow">
            <a:avLst>
              <a:gd name="adj1" fmla="val 22377"/>
              <a:gd name="adj2" fmla="val 25000"/>
              <a:gd name="adj3" fmla="val 25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F3806-E9D7-1A4F-2C41-FE951269EAE5}"/>
              </a:ext>
            </a:extLst>
          </p:cNvPr>
          <p:cNvSpPr/>
          <p:nvPr/>
        </p:nvSpPr>
        <p:spPr>
          <a:xfrm>
            <a:off x="3460750" y="5289550"/>
            <a:ext cx="2362200" cy="101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Real time assessment</a:t>
            </a:r>
            <a:endParaRPr lang="en-AE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D555E7-F1D0-2BF0-EDED-7B6EE9223EE0}"/>
              </a:ext>
            </a:extLst>
          </p:cNvPr>
          <p:cNvSpPr/>
          <p:nvPr/>
        </p:nvSpPr>
        <p:spPr>
          <a:xfrm>
            <a:off x="7915275" y="5289550"/>
            <a:ext cx="2247900" cy="101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Alert system activation</a:t>
            </a:r>
            <a:endParaRPr lang="en-AE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ED0EBC3-2235-C4B0-945B-0940859E0BDE}"/>
              </a:ext>
            </a:extLst>
          </p:cNvPr>
          <p:cNvSpPr/>
          <p:nvPr/>
        </p:nvSpPr>
        <p:spPr>
          <a:xfrm>
            <a:off x="6108700" y="5664200"/>
            <a:ext cx="1520825" cy="21590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7554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B588-FA6D-C7E3-27DF-5BCFAA9E9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IMPORTING REQUIRED MODULES/LIBRARIES</a:t>
            </a:r>
            <a:endParaRPr lang="en-AE" sz="40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1D1B6A-76C2-4668-5BA8-7B78472AF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200" t="23281" r="16911" b="54462"/>
          <a:stretch/>
        </p:blipFill>
        <p:spPr>
          <a:xfrm>
            <a:off x="400687" y="1799627"/>
            <a:ext cx="10978345" cy="205483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54AEAB-1266-CF59-BBFF-EEA5ACED92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596" t="23521" r="22557" b="55325"/>
          <a:stretch/>
        </p:blipFill>
        <p:spPr>
          <a:xfrm>
            <a:off x="319755" y="3916727"/>
            <a:ext cx="11140207" cy="234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3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6C3D-3B8E-96AA-C743-42222941D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296" y="667593"/>
            <a:ext cx="8827556" cy="802458"/>
          </a:xfrm>
        </p:spPr>
        <p:txBody>
          <a:bodyPr/>
          <a:lstStyle/>
          <a:p>
            <a:r>
              <a:rPr lang="en-GB" dirty="0"/>
              <a:t>TRANSFORMATION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FEFA6F-7877-90C3-D30C-A6F3E718A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228" t="22552" r="20875" b="21515"/>
          <a:stretch/>
        </p:blipFill>
        <p:spPr>
          <a:xfrm>
            <a:off x="1389466" y="1847621"/>
            <a:ext cx="9150661" cy="4342786"/>
          </a:xfrm>
        </p:spPr>
      </p:pic>
    </p:spTree>
    <p:extLst>
      <p:ext uri="{BB962C8B-B14F-4D97-AF65-F5344CB8AC3E}">
        <p14:creationId xmlns:p14="http://schemas.microsoft.com/office/powerpoint/2010/main" val="328977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4B09-92BC-A3D2-ED51-A0A47326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PLOTTING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0ED933-59E5-35D3-74F5-8F4862CFC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201" t="22807" r="15846" b="18603"/>
          <a:stretch/>
        </p:blipFill>
        <p:spPr>
          <a:xfrm>
            <a:off x="1097280" y="1824455"/>
            <a:ext cx="9139384" cy="4432507"/>
          </a:xfrm>
        </p:spPr>
      </p:pic>
    </p:spTree>
    <p:extLst>
      <p:ext uri="{BB962C8B-B14F-4D97-AF65-F5344CB8AC3E}">
        <p14:creationId xmlns:p14="http://schemas.microsoft.com/office/powerpoint/2010/main" val="3598512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08C3-026E-314E-46A2-E5C9C89D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LOADER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75545-8591-396B-1414-14222561B4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07" t="54382" r="43522" b="29139"/>
          <a:stretch/>
        </p:blipFill>
        <p:spPr>
          <a:xfrm>
            <a:off x="1384955" y="2657393"/>
            <a:ext cx="8981668" cy="183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05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76388-939C-44D5-7CF7-A22A5A06E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VIEW A BATCH OF IMAGES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36CDBF-1584-8738-688C-BC682DBC6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448" t="20254" r="6652" b="21770"/>
          <a:stretch/>
        </p:blipFill>
        <p:spPr>
          <a:xfrm>
            <a:off x="1191802" y="2000770"/>
            <a:ext cx="9099602" cy="3537001"/>
          </a:xfrm>
        </p:spPr>
      </p:pic>
    </p:spTree>
    <p:extLst>
      <p:ext uri="{BB962C8B-B14F-4D97-AF65-F5344CB8AC3E}">
        <p14:creationId xmlns:p14="http://schemas.microsoft.com/office/powerpoint/2010/main" val="1186187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D8848-5EF6-EF65-69E0-65E42E92F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 Class for defining training and validation steps 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8DA924-96CB-5093-7239-D84357326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758" t="24159" r="14554" b="22280"/>
          <a:stretch/>
        </p:blipFill>
        <p:spPr>
          <a:xfrm>
            <a:off x="1448656" y="1982912"/>
            <a:ext cx="9216573" cy="3873357"/>
          </a:xfrm>
        </p:spPr>
      </p:pic>
    </p:spTree>
    <p:extLst>
      <p:ext uri="{BB962C8B-B14F-4D97-AF65-F5344CB8AC3E}">
        <p14:creationId xmlns:p14="http://schemas.microsoft.com/office/powerpoint/2010/main" val="3584961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9BD4-902D-E7E5-15BB-99DA465D6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CONVOLUTIONAL NEURAL NETWORK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354EA4-8714-C3C1-9168-368F31FC6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670" t="23062" r="38258" b="22026"/>
          <a:stretch/>
        </p:blipFill>
        <p:spPr>
          <a:xfrm>
            <a:off x="2835668" y="1982549"/>
            <a:ext cx="5835721" cy="4066796"/>
          </a:xfrm>
        </p:spPr>
      </p:pic>
    </p:spTree>
    <p:extLst>
      <p:ext uri="{BB962C8B-B14F-4D97-AF65-F5344CB8AC3E}">
        <p14:creationId xmlns:p14="http://schemas.microsoft.com/office/powerpoint/2010/main" val="1224551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5B6A-FDCC-D0AF-4277-577F7C60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summary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A75173-4C5E-8C84-37AA-182797BFF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378" t="22296" r="44233" b="20748"/>
          <a:stretch/>
        </p:blipFill>
        <p:spPr>
          <a:xfrm>
            <a:off x="5618502" y="971044"/>
            <a:ext cx="5683889" cy="5287832"/>
          </a:xfrm>
        </p:spPr>
      </p:pic>
    </p:spTree>
    <p:extLst>
      <p:ext uri="{BB962C8B-B14F-4D97-AF65-F5344CB8AC3E}">
        <p14:creationId xmlns:p14="http://schemas.microsoft.com/office/powerpoint/2010/main" val="205745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E31D-C377-3C6C-94D2-01428E88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loop</a:t>
            </a:r>
            <a:endParaRPr lang="en-AE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13992F2A-8DC8-2A88-7526-641D5A9C8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604" t="28937" r="20730" b="25856"/>
          <a:stretch/>
        </p:blipFill>
        <p:spPr>
          <a:xfrm>
            <a:off x="1096963" y="1967648"/>
            <a:ext cx="10058400" cy="3779954"/>
          </a:xfrm>
        </p:spPr>
      </p:pic>
    </p:spTree>
    <p:extLst>
      <p:ext uri="{BB962C8B-B14F-4D97-AF65-F5344CB8AC3E}">
        <p14:creationId xmlns:p14="http://schemas.microsoft.com/office/powerpoint/2010/main" val="2409695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365051-DDA4-8917-4A78-FF90DCAEB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04" t="30980" r="9907" b="30954"/>
          <a:stretch/>
        </p:blipFill>
        <p:spPr>
          <a:xfrm>
            <a:off x="188359" y="863029"/>
            <a:ext cx="11815281" cy="3333718"/>
          </a:xfrm>
        </p:spPr>
      </p:pic>
    </p:spTree>
    <p:extLst>
      <p:ext uri="{BB962C8B-B14F-4D97-AF65-F5344CB8AC3E}">
        <p14:creationId xmlns:p14="http://schemas.microsoft.com/office/powerpoint/2010/main" val="1783213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8E31-FFF5-500D-9864-5FC630BA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vs No .of epochs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DB351B-CE10-874E-8A9C-16B14EAED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77" t="39345" r="55928" b="37861"/>
          <a:stretch/>
        </p:blipFill>
        <p:spPr>
          <a:xfrm>
            <a:off x="285622" y="2032395"/>
            <a:ext cx="4604877" cy="19950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2007D-E4E7-59A0-28F6-38BDD41F93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76" t="28315" r="50000" b="25333"/>
          <a:stretch/>
        </p:blipFill>
        <p:spPr>
          <a:xfrm>
            <a:off x="5722705" y="1839587"/>
            <a:ext cx="5273521" cy="420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70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0F58-5246-57ED-B17E-269068340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Loss vs No. of epochs</a:t>
            </a:r>
            <a:endParaRPr lang="en-A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9DA236-12BC-6476-F98C-D8F383DF3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470" t="41452" r="56934" b="37605"/>
          <a:stretch/>
        </p:blipFill>
        <p:spPr>
          <a:xfrm>
            <a:off x="441789" y="2063005"/>
            <a:ext cx="4697542" cy="18698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5DBDF6-EA99-71F4-697D-CCB0771D1A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551" t="28314" r="48764" b="23746"/>
          <a:stretch/>
        </p:blipFill>
        <p:spPr>
          <a:xfrm>
            <a:off x="6534363" y="1781886"/>
            <a:ext cx="5054886" cy="430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8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204D-F677-DC8B-40EF-F55A2B09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429000"/>
            <a:ext cx="11125200" cy="2484829"/>
          </a:xfrm>
        </p:spPr>
        <p:txBody>
          <a:bodyPr>
            <a:normAutofit/>
          </a:bodyPr>
          <a:lstStyle/>
          <a:p>
            <a:r>
              <a:rPr lang="en-GB" sz="3200" dirty="0"/>
              <a:t>The low validation loss indicates that the model is effectively minimizing its prediction errors. </a:t>
            </a:r>
            <a:br>
              <a:rPr lang="en-GB" sz="3200" dirty="0"/>
            </a:br>
            <a:br>
              <a:rPr lang="en-GB" sz="3200" dirty="0"/>
            </a:br>
            <a:r>
              <a:rPr lang="en-GB" sz="3200" dirty="0"/>
              <a:t>The high validation accuracy of 94.91% suggests that the model is making accurate predictions</a:t>
            </a:r>
            <a:endParaRPr lang="en-AE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536A0-94F4-9898-892C-1977B69AD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54286"/>
            <a:ext cx="10058400" cy="4023360"/>
          </a:xfrm>
        </p:spPr>
        <p:txBody>
          <a:bodyPr>
            <a:normAutofit/>
          </a:bodyPr>
          <a:lstStyle/>
          <a:p>
            <a:r>
              <a:rPr lang="en-IN" sz="4800" dirty="0"/>
              <a:t>CONCLUSION</a:t>
            </a:r>
          </a:p>
          <a:p>
            <a:endParaRPr lang="en-IN" sz="4800" dirty="0"/>
          </a:p>
          <a:p>
            <a:pPr marL="0" indent="0">
              <a:buNone/>
            </a:pPr>
            <a:endParaRPr lang="en-IN" sz="4800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23D3F213-40E5-3BCD-B056-579C14048B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39" t="46305" r="54780" b="42968"/>
          <a:stretch/>
        </p:blipFill>
        <p:spPr>
          <a:xfrm>
            <a:off x="1340777" y="2159000"/>
            <a:ext cx="7013825" cy="14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18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E25E-6A32-084F-F9F9-7EC273C4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33D14-40C6-ED59-F32F-8E9FBB92D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https://www.kaggle.com/datasets/hazemfahmy/openned-closed-eyes</a:t>
            </a:r>
          </a:p>
        </p:txBody>
      </p:sp>
    </p:spTree>
    <p:extLst>
      <p:ext uri="{BB962C8B-B14F-4D97-AF65-F5344CB8AC3E}">
        <p14:creationId xmlns:p14="http://schemas.microsoft.com/office/powerpoint/2010/main" val="60044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E89F8-6C63-5D73-D387-5CAADA7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812" y="397564"/>
            <a:ext cx="7931648" cy="2530571"/>
          </a:xfrm>
        </p:spPr>
        <p:txBody>
          <a:bodyPr>
            <a:normAutofit/>
          </a:bodyPr>
          <a:lstStyle/>
          <a:p>
            <a:r>
              <a:rPr lang="en-IN" sz="6600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4E67C-30DA-5F27-CB71-9F423D9E2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005" y="1918186"/>
            <a:ext cx="10058400" cy="4023360"/>
          </a:xfrm>
        </p:spPr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</a:t>
            </a:r>
          </a:p>
          <a:p>
            <a:endParaRPr lang="en-IN" dirty="0"/>
          </a:p>
          <a:p>
            <a:r>
              <a:rPr lang="en-IN" dirty="0"/>
              <a:t>                               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SUBMITTED BY:</a:t>
            </a:r>
          </a:p>
          <a:p>
            <a:pPr marL="0" indent="0">
              <a:buNone/>
            </a:pPr>
            <a:r>
              <a:rPr lang="en-IN" dirty="0"/>
              <a:t>Sneha Saji(AM.LS.P2BIF22029)</a:t>
            </a:r>
          </a:p>
          <a:p>
            <a:pPr marL="0" indent="0">
              <a:buNone/>
            </a:pPr>
            <a:r>
              <a:rPr lang="en-IN" dirty="0"/>
              <a:t>Vaishnavi P(AM.LS.P2BIF22033)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6212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</TotalTime>
  <Words>667</Words>
  <Application>Microsoft Office PowerPoint</Application>
  <PresentationFormat>Widescreen</PresentationFormat>
  <Paragraphs>89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 Black</vt:lpstr>
      <vt:lpstr>Arial Narrow</vt:lpstr>
      <vt:lpstr>Berlin Sans FB Demi</vt:lpstr>
      <vt:lpstr>Calibri</vt:lpstr>
      <vt:lpstr>Calibri Light</vt:lpstr>
      <vt:lpstr>Söhne Mono</vt:lpstr>
      <vt:lpstr>Times New Roman</vt:lpstr>
      <vt:lpstr>Wingdings</vt:lpstr>
      <vt:lpstr>Retrospect</vt:lpstr>
      <vt:lpstr>DROWSINESS DETECTION MODEL</vt:lpstr>
      <vt:lpstr>INTRODUCTION</vt:lpstr>
      <vt:lpstr>OBJECTIVE</vt:lpstr>
      <vt:lpstr>MOTIVATION</vt:lpstr>
      <vt:lpstr>PowerPoint Presentation</vt:lpstr>
      <vt:lpstr>PowerPoint Presentation</vt:lpstr>
      <vt:lpstr>PowerPoint Presentation</vt:lpstr>
      <vt:lpstr>METHODOLOGY OF EYE DETECTION</vt:lpstr>
      <vt:lpstr>  FLOWCHART +-----------------+ | (Computer Vision) +-----------------+ +---------------------+ | Image Capture | | | | (Camera) +--------&gt;| Face Detection | +-----------------+ | (Computer Vision) | +----------+----------+</vt:lpstr>
      <vt:lpstr>IMPORTING REQUIRED MODULES/LIBRARIES</vt:lpstr>
      <vt:lpstr>TRANSFORMATION</vt:lpstr>
      <vt:lpstr>IMAGE PLOTTING</vt:lpstr>
      <vt:lpstr>DATA LOADER</vt:lpstr>
      <vt:lpstr>VIEW A BATCH OF IMAGES</vt:lpstr>
      <vt:lpstr>Base Class for defining training and validation steps </vt:lpstr>
      <vt:lpstr>CONVOLUTIONAL NEURAL NETWORK</vt:lpstr>
      <vt:lpstr>Model summary</vt:lpstr>
      <vt:lpstr>Training loop</vt:lpstr>
      <vt:lpstr>PowerPoint Presentation</vt:lpstr>
      <vt:lpstr>Accuracy vs No .of epochs</vt:lpstr>
      <vt:lpstr>Loss vs No. of epochs</vt:lpstr>
      <vt:lpstr>The low validation loss indicates that the model is effectively minimizing its prediction errors.   The high validation accuracy of 94.91% suggests that the model is making accurate predictions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</dc:title>
  <dc:creator>Sneha Saji</dc:creator>
  <cp:lastModifiedBy>Sneha Saji</cp:lastModifiedBy>
  <cp:revision>16</cp:revision>
  <dcterms:created xsi:type="dcterms:W3CDTF">2023-11-30T16:04:39Z</dcterms:created>
  <dcterms:modified xsi:type="dcterms:W3CDTF">2026-10-07T07:41:37Z</dcterms:modified>
</cp:coreProperties>
</file>